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4000" b="1">
                <a:solidFill>
                  <a:srgbClr val="FFFFFF"/>
                </a:solidFill>
                <a:latin typeface="Calibri" panose="020F0502020204030204"/>
              </a:defRPr>
            </a:pPr>
            <a:r>
              <a:t>Building an Automated Firewall Rule</a:t>
            </a:r>
            <a:br/>
            <a:r>
              <a:t>Change Management and Approval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814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C8E6"/>
                </a:solidFill>
                <a:latin typeface="Calibri" panose="020F0502020204030204"/>
              </a:defRPr>
            </a:pPr>
            <a:r>
              <a:t>A Functional Prototype for Network Security, Auditing and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937760"/>
            <a:ext cx="5486400" cy="109728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02555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8D2E6"/>
                </a:solidFill>
                <a:latin typeface="Calibri" panose="020F0502020204030204"/>
              </a:defRPr>
            </a:pPr>
            <a:r>
              <a:t>Course: CY376 — Network Monitoring, Security and Auditing</a:t>
            </a:r>
          </a:p>
          <a:p>
            <a:pPr>
              <a:spcAft>
                <a:spcPts val="400"/>
              </a:spcAft>
              <a:defRPr sz="1300">
                <a:solidFill>
                  <a:srgbClr val="C8D2E6"/>
                </a:solidFill>
                <a:latin typeface="Calibri" panose="020F0502020204030204"/>
              </a:defRPr>
            </a:pPr>
            <a:r>
              <a:t>Team: Blue Team (Defensive Security)</a:t>
            </a:r>
          </a:p>
          <a:p>
            <a:pPr>
              <a:spcAft>
                <a:spcPts val="400"/>
              </a:spcAft>
              <a:defRPr sz="1300">
                <a:solidFill>
                  <a:srgbClr val="C8D2E6"/>
                </a:solidFill>
                <a:latin typeface="Calibri" panose="020F0502020204030204"/>
              </a:defRPr>
            </a:pPr>
            <a:r>
              <a:t>Date: August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CY376 | Blue Team | Network Security, Auditing and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The Problem: Manual Firewall Changes Are Risky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8E6"/>
                </a:solidFill>
                <a:latin typeface="Calibri" panose="020F0502020204030204"/>
              </a:defRPr>
            </a:pPr>
            <a:r>
              <a:t>Why organizations need automated change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832"/>
                </a:solidFill>
                <a:latin typeface="Calibri" panose="020F0502020204030204"/>
              </a:defRPr>
            </a:pPr>
            <a:r>
              <a:t>▸  Firewall changes handled through email, chat, or spreadsheets</a:t>
            </a:r>
          </a:p>
          <a:p>
            <a:pPr>
              <a:spcAft>
                <a:spcPts val="1000"/>
              </a:spcAft>
              <a:defRPr sz="1700">
                <a:solidFill>
                  <a:srgbClr val="282832"/>
                </a:solidFill>
                <a:latin typeface="Calibri" panose="020F0502020204030204"/>
              </a:defRPr>
            </a:pPr>
            <a:r>
              <a:t>▸  No standardized format — critical details get lost or misinterpreted</a:t>
            </a:r>
          </a:p>
          <a:p>
            <a:pPr>
              <a:spcAft>
                <a:spcPts val="1000"/>
              </a:spcAft>
              <a:defRPr sz="1700">
                <a:solidFill>
                  <a:srgbClr val="282832"/>
                </a:solidFill>
                <a:latin typeface="Calibri" panose="020F0502020204030204"/>
              </a:defRPr>
            </a:pPr>
            <a:r>
              <a:t>▸  Dangerous rules (e.g., SSH open to the entire Internet) deployed without review</a:t>
            </a:r>
          </a:p>
          <a:p>
            <a:pPr>
              <a:spcAft>
                <a:spcPts val="1000"/>
              </a:spcAft>
              <a:defRPr sz="1700">
                <a:solidFill>
                  <a:srgbClr val="282832"/>
                </a:solidFill>
                <a:latin typeface="Calibri" panose="020F0502020204030204"/>
              </a:defRPr>
            </a:pPr>
            <a:r>
              <a:t>▸  When breaches happen, nobody knows who approved what or why</a:t>
            </a:r>
          </a:p>
          <a:p>
            <a:pPr>
              <a:spcAft>
                <a:spcPts val="1000"/>
              </a:spcAft>
              <a:defRPr sz="1700">
                <a:solidFill>
                  <a:srgbClr val="282832"/>
                </a:solidFill>
                <a:latin typeface="Calibri" panose="020F0502020204030204"/>
              </a:defRPr>
            </a:pPr>
            <a:r>
              <a:t>▸  Rollback is manual, slow, and error-prone — extending downtime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FFF3E6"/>
          </a:solidFill>
          <a:ln>
            <a:solidFill>
              <a:srgbClr val="FF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65014"/>
                </a:solidFill>
                <a:latin typeface="Calibri" panose="020F0502020204030204"/>
              </a:defRPr>
            </a:pPr>
            <a:r>
              <a:t>The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82832"/>
                </a:solidFill>
                <a:latin typeface="Calibri" panose="020F0502020204030204"/>
              </a:defRPr>
            </a:pPr>
            <a:r>
              <a:t>Cisco and Ponemon Institute research shows human error is a leading cause of network security incidents.</a:t>
            </a:r>
          </a:p>
          <a:p>
            <a:pPr>
              <a:spcAft>
                <a:spcPts val="600"/>
              </a:spcAft>
              <a:defRPr sz="1500">
                <a:solidFill>
                  <a:srgbClr val="282832"/>
                </a:solidFill>
                <a:latin typeface="Calibri" panose="020F0502020204030204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82832"/>
                </a:solidFill>
                <a:latin typeface="Calibri" panose="020F0502020204030204"/>
              </a:defRPr>
            </a:pPr>
            <a:r>
              <a:t>Misconfigured firewall rules rank among the top contributors to data breaches.</a:t>
            </a:r>
          </a:p>
          <a:p>
            <a:pPr>
              <a:spcAft>
                <a:spcPts val="600"/>
              </a:spcAft>
              <a:defRPr sz="1500">
                <a:solidFill>
                  <a:srgbClr val="282832"/>
                </a:solidFill>
                <a:latin typeface="Calibri" panose="020F0502020204030204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82832"/>
                </a:solidFill>
                <a:latin typeface="Calibri" panose="020F0502020204030204"/>
              </a:defRPr>
            </a:pPr>
            <a:r>
              <a:t>One typo in an IP address can expose an entire internal network to attackers.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CY376 | Blue Team | Network Security, Auditing and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8E6"/>
                </a:solidFill>
                <a:latin typeface="Calibri" panose="020F0502020204030204"/>
              </a:defRPr>
            </a:pPr>
            <a:r>
              <a:t>What this prototype set out to achieve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32"/>
                </a:solidFill>
                <a:latin typeface="Calibri" panose="020F0502020204030204"/>
              </a:defRPr>
            </a:pPr>
            <a:r>
              <a:t>▸  Build a web form that captures all technical details for a firewall change request</a:t>
            </a:r>
          </a:p>
          <a:p>
            <a:pPr>
              <a:spcAft>
                <a:spcPts val="1000"/>
              </a:spcAft>
              <a:defRPr sz="1800">
                <a:solidFill>
                  <a:srgbClr val="282832"/>
                </a:solidFill>
                <a:latin typeface="Calibri" panose="020F0502020204030204"/>
              </a:defRPr>
            </a:pPr>
            <a:r>
              <a:t>▸  Create a risk scoring engine that automatically flags dangerous requests before approval</a:t>
            </a:r>
          </a:p>
          <a:p>
            <a:pPr>
              <a:spcAft>
                <a:spcPts val="1000"/>
              </a:spcAft>
              <a:defRPr sz="1800">
                <a:solidFill>
                  <a:srgbClr val="282832"/>
                </a:solidFill>
                <a:latin typeface="Calibri" panose="020F0502020204030204"/>
              </a:defRPr>
            </a:pPr>
            <a:r>
              <a:t>▸  Enforce role-based approvals with the Four-Eyes Principle (no self-approval)</a:t>
            </a:r>
          </a:p>
          <a:p>
            <a:pPr>
              <a:spcAft>
                <a:spcPts val="1000"/>
              </a:spcAft>
              <a:defRPr sz="1800">
                <a:solidFill>
                  <a:srgbClr val="282832"/>
                </a:solidFill>
                <a:latin typeface="Calibri" panose="020F0502020204030204"/>
              </a:defRPr>
            </a:pPr>
            <a:r>
              <a:t>▸  Generate exact iptables commands automatically — eliminating human typos</a:t>
            </a:r>
          </a:p>
          <a:p>
            <a:pPr>
              <a:spcAft>
                <a:spcPts val="1000"/>
              </a:spcAft>
              <a:defRPr sz="1800">
                <a:solidFill>
                  <a:srgbClr val="282832"/>
                </a:solidFill>
                <a:latin typeface="Calibri" panose="020F0502020204030204"/>
              </a:defRPr>
            </a:pPr>
            <a:r>
              <a:t>▸  Maintain an immutable audit trail for compliance and forensic investigation</a:t>
            </a:r>
          </a:p>
          <a:p>
            <a:pPr>
              <a:spcAft>
                <a:spcPts val="1000"/>
              </a:spcAft>
              <a:defRPr sz="1800">
                <a:solidFill>
                  <a:srgbClr val="282832"/>
                </a:solidFill>
                <a:latin typeface="Calibri" panose="020F0502020204030204"/>
              </a:defRPr>
            </a:pPr>
            <a:r>
              <a:t>▸  Provide one-click rollback to reverse approved changes quickly and safely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CY376 | Blue Team | Network Security, Auditing and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Rectangle 2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System Architecture &amp;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8E6"/>
                </a:solidFill>
                <a:latin typeface="Calibri" panose="020F0502020204030204"/>
              </a:defRPr>
            </a:pPr>
            <a:r>
              <a:t>How the prototype is built and what powers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C72"/>
                </a:solidFill>
                <a:latin typeface="Calibri" panose="020F0502020204030204"/>
              </a:defRPr>
            </a:pPr>
            <a:r>
              <a:t>Three-Tier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E3C72"/>
                </a:solidFill>
                <a:latin typeface="Calibri" panose="020F0502020204030204"/>
              </a:defRPr>
            </a:pPr>
            <a:r>
              <a:t>Presentation Layer</a:t>
            </a:r>
          </a:p>
          <a:p>
            <a:pPr>
              <a:spcAft>
                <a:spcPts val="200"/>
              </a:spcAft>
              <a:defRPr sz="1400">
                <a:solidFill>
                  <a:srgbClr val="282832"/>
                </a:solidFill>
                <a:latin typeface="Calibri" panose="020F0502020204030204"/>
              </a:defRPr>
            </a:pPr>
            <a:r>
              <a:t>  → HTML/CSS templates rendered by Flask's Jinja2 engine</a:t>
            </a:r>
          </a:p>
          <a:p>
            <a:pPr>
              <a:spcAft>
                <a:spcPts val="200"/>
              </a:spcAft>
              <a:defRPr sz="1400">
                <a:solidFill>
                  <a:srgbClr val="282832"/>
                </a:solidFill>
                <a:latin typeface="Calibri" panose="020F0502020204030204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1E3C72"/>
                </a:solidFill>
                <a:latin typeface="Calibri" panose="020F0502020204030204"/>
              </a:defRPr>
            </a:pPr>
            <a:r>
              <a:t>Application Layer</a:t>
            </a:r>
          </a:p>
          <a:p>
            <a:pPr>
              <a:spcAft>
                <a:spcPts val="200"/>
              </a:spcAft>
              <a:defRPr sz="1400">
                <a:solidFill>
                  <a:srgbClr val="282832"/>
                </a:solidFill>
                <a:latin typeface="Calibri" panose="020F0502020204030204"/>
              </a:defRPr>
            </a:pPr>
            <a:r>
              <a:t>  → Python modules: routing, validation, risk engine,</a:t>
            </a:r>
          </a:p>
          <a:p>
            <a:pPr>
              <a:spcAft>
                <a:spcPts val="200"/>
              </a:spcAft>
              <a:defRPr sz="1400">
                <a:solidFill>
                  <a:srgbClr val="282832"/>
                </a:solidFill>
                <a:latin typeface="Calibri" panose="020F0502020204030204"/>
              </a:defRPr>
            </a:pPr>
            <a:r>
              <a:t>    access control, command generation, rollback logic</a:t>
            </a:r>
          </a:p>
          <a:p>
            <a:pPr>
              <a:spcAft>
                <a:spcPts val="200"/>
              </a:spcAft>
              <a:defRPr sz="1400">
                <a:solidFill>
                  <a:srgbClr val="282832"/>
                </a:solidFill>
                <a:latin typeface="Calibri" panose="020F0502020204030204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1E3C72"/>
                </a:solidFill>
                <a:latin typeface="Calibri" panose="020F0502020204030204"/>
              </a:defRPr>
            </a:pPr>
            <a:r>
              <a:t>Data Layer</a:t>
            </a:r>
          </a:p>
          <a:p>
            <a:pPr>
              <a:spcAft>
                <a:spcPts val="200"/>
              </a:spcAft>
              <a:defRPr sz="1400">
                <a:solidFill>
                  <a:srgbClr val="282832"/>
                </a:solidFill>
                <a:latin typeface="Calibri" panose="020F0502020204030204"/>
              </a:defRPr>
            </a:pPr>
            <a:r>
              <a:t>  → SQLite database: users, requests, immutable audit_log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C72"/>
                </a:solidFill>
                <a:latin typeface="Calibri" panose="020F0502020204030204"/>
              </a:defRPr>
            </a:pPr>
            <a:r>
              <a:t>Open-Source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5298"/>
                </a:solidFill>
                <a:latin typeface="Calibri" panose="020F0502020204030204"/>
              </a:defRPr>
            </a:pPr>
            <a:r>
              <a:t>Python 3.13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2402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E"/>
                </a:solidFill>
                <a:latin typeface="Calibri" panose="020F0502020204030204"/>
              </a:defRPr>
            </a:pPr>
            <a:r>
              <a:t>Core application logic, risk engine,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5298"/>
                </a:solidFill>
                <a:latin typeface="Calibri" panose="020F0502020204030204"/>
              </a:defRPr>
            </a:pPr>
            <a:r>
              <a:t>Flask 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74320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E"/>
                </a:solidFill>
                <a:latin typeface="Calibri" panose="020F0502020204030204"/>
              </a:defRPr>
            </a:pPr>
            <a:r>
              <a:t>Web framework, routing, sessions, templates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5298"/>
                </a:solidFill>
                <a:latin typeface="Calibri" panose="020F0502020204030204"/>
              </a:defRPr>
            </a:pPr>
            <a:r>
              <a:t>SQLite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461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E"/>
                </a:solidFill>
                <a:latin typeface="Calibri" panose="020F0502020204030204"/>
              </a:defRPr>
            </a:pPr>
            <a:r>
              <a:t>Zero-config persistent data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5298"/>
                </a:solidFill>
                <a:latin typeface="Calibri" panose="020F0502020204030204"/>
              </a:defRPr>
            </a:pPr>
            <a:r>
              <a:t>Werkzeug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7490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E"/>
                </a:solidFill>
                <a:latin typeface="Calibri" panose="020F0502020204030204"/>
              </a:defRPr>
            </a:pPr>
            <a:r>
              <a:t>PBKDF2 password hashing, secure cookies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519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5298"/>
                </a:solidFill>
                <a:latin typeface="Calibri" panose="020F0502020204030204"/>
              </a:defRPr>
            </a:pPr>
            <a:r>
              <a:t>Jinja2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2519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E"/>
                </a:solidFill>
                <a:latin typeface="Calibri" panose="020F0502020204030204"/>
              </a:defRPr>
            </a:pPr>
            <a:r>
              <a:t>HTML template rendering (built into Flask)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303520"/>
            <a:ext cx="5486400" cy="731520"/>
          </a:xfrm>
          <a:prstGeom prst="roundRect">
            <a:avLst/>
          </a:prstGeom>
          <a:solidFill>
            <a:srgbClr val="E6F5E6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440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4501E"/>
                </a:solidFill>
                <a:latin typeface="Calibri" panose="020F0502020204030204"/>
              </a:defRPr>
            </a:pPr>
            <a:r>
              <a:t>✓  Runs entirely on a laptop — no cloud, no licenses, no expensive hardware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CY376 | Blue Team | Network Security, Auditing and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Results: Role-Based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8E6"/>
                </a:solidFill>
                <a:latin typeface="Calibri" panose="020F0502020204030204"/>
              </a:defRPr>
            </a:pPr>
            <a:r>
              <a:t>Three user roles with progressively broader permissions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4114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874520"/>
            <a:ext cx="164592" cy="164592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82832"/>
                </a:solidFill>
                <a:latin typeface="Calibri" panose="020F0502020204030204"/>
              </a:defRPr>
            </a:pPr>
            <a:r>
              <a:t>Requester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48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E"/>
                </a:solidFill>
                <a:latin typeface="Calibri" panose="020F0502020204030204"/>
              </a:defRPr>
            </a:pPr>
            <a:r>
              <a:t>Submit requests, view own history, read audit trail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97480"/>
            <a:ext cx="164592" cy="164592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82832"/>
                </a:solidFill>
                <a:latin typeface="Calibri" panose="020F0502020204030204"/>
              </a:defRPr>
            </a:pPr>
            <a:r>
              <a:t>Security Officer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077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E"/>
                </a:solidFill>
                <a:latin typeface="Calibri" panose="020F0502020204030204"/>
              </a:defRPr>
            </a:pPr>
            <a:r>
              <a:t>All above + approve/reject pending requests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520440"/>
            <a:ext cx="164592" cy="164592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82832"/>
                </a:solidFill>
                <a:latin typeface="Calibri" panose="020F0502020204030204"/>
              </a:defRPr>
            </a:pPr>
            <a: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307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E"/>
                </a:solidFill>
                <a:latin typeface="Calibri" panose="020F0502020204030204"/>
              </a:defRPr>
            </a:pPr>
            <a:r>
              <a:t>All above + rollback approved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1E3C72"/>
                </a:solidFill>
                <a:latin typeface="Calibri" panose="020F0502020204030204"/>
              </a:defRPr>
            </a:pPr>
            <a:r>
              <a:t>Principle of Least Privilege: each user gets only the access they need to do their job.</a:t>
            </a:r>
          </a:p>
        </p:txBody>
      </p:sp>
      <p:pic>
        <p:nvPicPr>
          <p:cNvPr id="18" name="Picture 17" descr="01_login_p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645920"/>
            <a:ext cx="6858000" cy="440871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46320" y="61264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E"/>
                </a:solidFill>
                <a:latin typeface="Calibri" panose="020F0502020204030204"/>
              </a:defRPr>
            </a:pPr>
            <a:r>
              <a:t>Figure 1: Login page showing the three role-based accounts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CY376 | Blue Team | Network Security, Auditing and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Rectangl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Results: The Risk Scoring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8E6"/>
                </a:solidFill>
                <a:latin typeface="Calibri" panose="020F0502020204030204"/>
              </a:defRPr>
            </a:pPr>
            <a:r>
              <a:t>Automatically calculates danger from 0 to 10 for every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C72"/>
                </a:solidFill>
                <a:latin typeface="Calibri" panose="020F0502020204030204"/>
              </a:defRPr>
            </a:pPr>
            <a:r>
              <a:t>How the Score Is Calculated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5298"/>
                </a:solidFill>
                <a:latin typeface="Calibri" panose="020F0502020204030204"/>
              </a:defRPr>
            </a:pPr>
            <a:r>
              <a:t>▸ Port Danger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91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832"/>
                </a:solidFill>
                <a:latin typeface="Calibri" panose="020F0502020204030204"/>
              </a:defRPr>
            </a:pPr>
            <a:r>
              <a:t>SSH/RDP = +4 | Other risky = +2 | System ports = +1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5298"/>
                </a:solidFill>
                <a:latin typeface="Calibri" panose="020F0502020204030204"/>
              </a:defRPr>
            </a:pPr>
            <a:r>
              <a:t>▸ Network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53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832"/>
                </a:solidFill>
                <a:latin typeface="Calibri" panose="020F0502020204030204"/>
              </a:defRPr>
            </a:pPr>
            <a:r>
              <a:t>Internet (0.0.0.0/0) = +3 | External IP = +2 | Internal = +0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5298"/>
                </a:solidFill>
                <a:latin typeface="Calibri" panose="020F0502020204030204"/>
              </a:defRPr>
            </a:pPr>
            <a:r>
              <a:t>▸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4787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832"/>
                </a:solidFill>
                <a:latin typeface="Calibri" panose="020F0502020204030204"/>
              </a:defRPr>
            </a:pPr>
            <a:r>
              <a:t>TCP = +0 | UDP = +1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5298"/>
                </a:solidFill>
                <a:latin typeface="Calibri" panose="020F0502020204030204"/>
              </a:defRPr>
            </a:pPr>
            <a:r>
              <a:t>▸ Action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422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832"/>
                </a:solidFill>
                <a:latin typeface="Calibri" panose="020F0502020204030204"/>
              </a:defRPr>
            </a:pPr>
            <a:r>
              <a:t>ALLOW = +1 | DROP = -2 (safer)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5029200" cy="1188720"/>
          </a:xfrm>
          <a:prstGeom prst="roundRect">
            <a:avLst/>
          </a:prstGeom>
          <a:solidFill>
            <a:srgbClr val="FAFAFA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  <a:latin typeface="Calibri" panose="020F0502020204030204"/>
              </a:defRPr>
            </a:pPr>
            <a:r>
              <a:t>Score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82832"/>
                </a:solidFill>
                <a:latin typeface="Calibri" panose="020F0502020204030204"/>
              </a:defRPr>
            </a:pPr>
            <a:r>
              <a:t>🟢  0–3 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30352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E"/>
                </a:solidFill>
                <a:latin typeface="Calibri" panose="020F0502020204030204"/>
              </a:defRPr>
            </a:pPr>
            <a:r>
              <a:t>Routine internal changes — minimal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595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82832"/>
                </a:solidFill>
                <a:latin typeface="Calibri" panose="020F0502020204030204"/>
              </a:defRPr>
            </a:pPr>
            <a:r>
              <a:t>🟡  4–6  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55955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E"/>
                </a:solidFill>
                <a:latin typeface="Calibri" panose="020F0502020204030204"/>
              </a:defRPr>
            </a:pPr>
            <a:r>
              <a:t>Requires review — moderate 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1558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82832"/>
                </a:solidFill>
                <a:latin typeface="Calibri" panose="020F0502020204030204"/>
              </a:defRPr>
            </a:pPr>
            <a:r>
              <a:t>🔴  7–10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815584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E"/>
                </a:solidFill>
                <a:latin typeface="Calibri" panose="020F0502020204030204"/>
              </a:defRPr>
            </a:pPr>
            <a:r>
              <a:t>Dangerous — strict approval required</a:t>
            </a:r>
          </a:p>
        </p:txBody>
      </p:sp>
      <p:pic>
        <p:nvPicPr>
          <p:cNvPr id="24" name="Picture 23" descr="04_high_risk_submitt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645920"/>
            <a:ext cx="5943600" cy="382088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60720" y="612648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E"/>
                </a:solidFill>
                <a:latin typeface="Calibri" panose="020F0502020204030204"/>
              </a:defRPr>
            </a:pPr>
            <a:r>
              <a:t>Figure 2: High-risk request flagged at 9/10 — SSH exposed to the Internet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CY376 | Blue Team | Network Security, Auditing and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Results: The Approval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8E6"/>
                </a:solidFill>
                <a:latin typeface="Calibri" panose="020F0502020204030204"/>
              </a:defRPr>
            </a:pPr>
            <a:r>
              <a:t>High-risk requests appear first — approvers see the exact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C72"/>
                </a:solidFill>
                <a:latin typeface="Calibri" panose="020F0502020204030204"/>
              </a:defRPr>
            </a:pPr>
            <a:r>
              <a:t>How Approval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32"/>
                </a:solidFill>
                <a:latin typeface="Calibri" panose="020F0502020204030204"/>
              </a:defRPr>
            </a:pPr>
            <a:r>
              <a:t>1. Requester fills the web form and submits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871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32"/>
                </a:solidFill>
                <a:latin typeface="Calibri" panose="020F0502020204030204"/>
              </a:defRPr>
            </a:pPr>
            <a:r>
              <a:t>2. Risk engine scores the request instantly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71216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32"/>
                </a:solidFill>
                <a:latin typeface="Calibri" panose="020F0502020204030204"/>
              </a:defRPr>
            </a:pPr>
            <a:r>
              <a:t>3. Request appears in the Security Officer's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5526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32"/>
                </a:solidFill>
                <a:latin typeface="Calibri" panose="020F0502020204030204"/>
              </a:defRPr>
            </a:pPr>
            <a:r>
              <a:t>4. Queue is sorted by risk (highest danger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393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32"/>
                </a:solidFill>
                <a:latin typeface="Calibri" panose="020F0502020204030204"/>
              </a:defRPr>
            </a:pPr>
            <a:r>
              <a:t>5. Officer reviews the generated iptables command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32"/>
                </a:solidFill>
                <a:latin typeface="Calibri" panose="020F0502020204030204"/>
              </a:defRPr>
            </a:pPr>
            <a:r>
              <a:t>6. Officer clicks Approve or Reject with a reason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937760"/>
            <a:ext cx="4572000" cy="1005840"/>
          </a:xfrm>
          <a:prstGeom prst="roundRect">
            <a:avLst/>
          </a:prstGeom>
          <a:solidFill>
            <a:srgbClr val="FFF3CD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26404"/>
                </a:solidFill>
                <a:latin typeface="Calibri" panose="020F0502020204030204"/>
              </a:defRPr>
            </a:pPr>
            <a:r>
              <a:t>🛡️ Four-Eyes Principle</a:t>
            </a:r>
          </a:p>
          <a:p>
            <a:pPr>
              <a:defRPr sz="1200">
                <a:solidFill>
                  <a:srgbClr val="282832"/>
                </a:solidFill>
                <a:latin typeface="Calibri" panose="020F0502020204030204"/>
              </a:defRPr>
            </a:pPr>
            <a:r>
              <a:t>The person who submits a request CANNOT approve it. This separation of duties is enforced in code — not just written in a policy.</a:t>
            </a:r>
          </a:p>
        </p:txBody>
      </p:sp>
      <p:pic>
        <p:nvPicPr>
          <p:cNvPr id="16" name="Picture 15" descr="05_approval_que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645920"/>
            <a:ext cx="6400800" cy="411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03520" y="6126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E"/>
                </a:solidFill>
                <a:latin typeface="Calibri" panose="020F0502020204030204"/>
              </a:defRPr>
            </a:pPr>
            <a:r>
              <a:t>Figure 3: Approval queue sorted by risk score with generated commands visible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CY376 | Blue Team | Network Security, Auditing and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Results: Four-Eyes Principle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8E6"/>
                </a:solidFill>
                <a:latin typeface="Calibri" panose="020F0502020204030204"/>
              </a:defRPr>
            </a:pPr>
            <a:r>
              <a:t>Technical enforcement of separation of duties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C72"/>
                </a:solidFill>
                <a:latin typeface="Calibri" panose="020F0502020204030204"/>
              </a:defRPr>
            </a:pPr>
            <a: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82832"/>
                </a:solidFill>
                <a:latin typeface="Calibri" panose="020F0502020204030204"/>
              </a:defRPr>
            </a:pPr>
            <a:r>
              <a:t>In many organizations, separation of duties is just a policy document.</a:t>
            </a:r>
          </a:p>
          <a:p>
            <a:pPr>
              <a:spcAft>
                <a:spcPts val="400"/>
              </a:spcAft>
              <a:defRPr sz="1400">
                <a:solidFill>
                  <a:srgbClr val="282832"/>
                </a:solidFill>
                <a:latin typeface="Calibri" panose="020F0502020204030204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82832"/>
                </a:solidFill>
                <a:latin typeface="Calibri" panose="020F0502020204030204"/>
              </a:defRPr>
            </a:pPr>
            <a:r>
              <a:t>This system enforces it at the application layer:</a:t>
            </a:r>
          </a:p>
          <a:p>
            <a:pPr>
              <a:spcAft>
                <a:spcPts val="400"/>
              </a:spcAft>
              <a:defRPr sz="1400">
                <a:solidFill>
                  <a:srgbClr val="282832"/>
                </a:solidFill>
                <a:latin typeface="Calibri" panose="020F0502020204030204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5298"/>
                </a:solidFill>
                <a:latin typeface="Calibri" panose="020F0502020204030204"/>
              </a:defRPr>
            </a:pPr>
            <a:r>
              <a:t>• When a user clicks 'Approve', the system checks their ID against the requester's ID</a:t>
            </a:r>
          </a:p>
          <a:p>
            <a:pPr>
              <a:spcAft>
                <a:spcPts val="400"/>
              </a:spcAft>
              <a:defRPr sz="1400">
                <a:solidFill>
                  <a:srgbClr val="2A5298"/>
                </a:solidFill>
                <a:latin typeface="Calibri" panose="020F0502020204030204"/>
              </a:defRPr>
            </a:pPr>
            <a:r>
              <a:t>• If they match, the action is blocked immediately</a:t>
            </a:r>
          </a:p>
          <a:p>
            <a:pPr>
              <a:spcAft>
                <a:spcPts val="400"/>
              </a:spcAft>
              <a:defRPr sz="1400">
                <a:solidFill>
                  <a:srgbClr val="2A5298"/>
                </a:solidFill>
                <a:latin typeface="Calibri" panose="020F0502020204030204"/>
              </a:defRPr>
            </a:pPr>
            <a:r>
              <a:t>• An error message is displayed — no bypass possible</a:t>
            </a:r>
          </a:p>
          <a:p>
            <a:pPr>
              <a:spcAft>
                <a:spcPts val="400"/>
              </a:spcAft>
              <a:defRPr sz="1400">
                <a:solidFill>
                  <a:srgbClr val="282832"/>
                </a:solidFill>
                <a:latin typeface="Calibri" panose="020F0502020204030204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82832"/>
                </a:solidFill>
                <a:latin typeface="Calibri" panose="020F0502020204030204"/>
              </a:defRPr>
            </a:pPr>
            <a:r>
              <a:t>Real-world analogy: In a bank, the person who deposits cash cannot also be the person who counts it. Two different people must be involved.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4572000" cy="914400"/>
          </a:xfrm>
          <a:prstGeom prst="roundRect">
            <a:avLst/>
          </a:prstGeom>
          <a:solidFill>
            <a:srgbClr val="E6F5E6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1663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01E"/>
                </a:solidFill>
                <a:latin typeface="Calibri" panose="020F0502020204030204"/>
              </a:defRPr>
            </a:pPr>
            <a:r>
              <a:t>Compliance Alignment</a:t>
            </a:r>
          </a:p>
          <a:p>
            <a:pPr>
              <a:defRPr sz="1200">
                <a:solidFill>
                  <a:srgbClr val="282832"/>
                </a:solidFill>
                <a:latin typeface="Calibri" panose="020F0502020204030204"/>
              </a:defRPr>
            </a:pPr>
            <a:r>
              <a:t>Required by ISO 27001, PCI-DSS, and SOX frameworks</a:t>
            </a:r>
          </a:p>
        </p:txBody>
      </p:sp>
      <p:pic>
        <p:nvPicPr>
          <p:cNvPr id="11" name="Picture 10" descr="09_four_eyes_princip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645920"/>
            <a:ext cx="64008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0" y="6126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E"/>
                </a:solidFill>
                <a:latin typeface="Calibri" panose="020F0502020204030204"/>
              </a:defRPr>
            </a:pPr>
            <a:r>
              <a:t>Figure 4: System blocking a user from approving their own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CY376 | Blue Team | Network Security, Auditing and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Results: Audit Trail &amp;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8E6"/>
                </a:solidFill>
                <a:latin typeface="Calibri" panose="020F0502020204030204"/>
              </a:defRPr>
            </a:pPr>
            <a:r>
              <a:t>Immutable logging and instant mistake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C72"/>
                </a:solidFill>
                <a:latin typeface="Calibri" panose="020F0502020204030204"/>
              </a:defRPr>
            </a:pPr>
            <a:r>
              <a:t>Immutable Security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282832"/>
                </a:solidFill>
                <a:latin typeface="Calibri" panose="020F0502020204030204"/>
              </a:defRPr>
            </a:pPr>
            <a:r>
              <a:t>Every action is permanently recorded:</a:t>
            </a:r>
          </a:p>
          <a:p>
            <a:pPr>
              <a:spcAft>
                <a:spcPts val="300"/>
              </a:spcAft>
              <a:defRPr sz="1400">
                <a:solidFill>
                  <a:srgbClr val="2A5298"/>
                </a:solidFill>
                <a:latin typeface="Calibri" panose="020F0502020204030204"/>
              </a:defRPr>
            </a:pPr>
            <a:r>
              <a:t>• WHO submitted, approved, rejected, or rolled back</a:t>
            </a:r>
          </a:p>
          <a:p>
            <a:pPr>
              <a:spcAft>
                <a:spcPts val="300"/>
              </a:spcAft>
              <a:defRPr sz="1400">
                <a:solidFill>
                  <a:srgbClr val="2A5298"/>
                </a:solidFill>
                <a:latin typeface="Calibri" panose="020F0502020204030204"/>
              </a:defRPr>
            </a:pPr>
            <a:r>
              <a:t>• WHAT the request contained and the risk score</a:t>
            </a:r>
          </a:p>
          <a:p>
            <a:pPr>
              <a:spcAft>
                <a:spcPts val="300"/>
              </a:spcAft>
              <a:defRPr sz="1400">
                <a:solidFill>
                  <a:srgbClr val="2A5298"/>
                </a:solidFill>
                <a:latin typeface="Calibri" panose="020F0502020204030204"/>
              </a:defRPr>
            </a:pPr>
            <a:r>
              <a:t>• WHEN each action occurred (timestamp)</a:t>
            </a:r>
          </a:p>
          <a:p>
            <a:pPr>
              <a:spcAft>
                <a:spcPts val="300"/>
              </a:spcAft>
              <a:defRPr sz="1400">
                <a:solidFill>
                  <a:srgbClr val="2A5298"/>
                </a:solidFill>
                <a:latin typeface="Calibri" panose="020F0502020204030204"/>
              </a:defRPr>
            </a:pPr>
            <a:r>
              <a:t>• WHY the change was needed (business justification)</a:t>
            </a:r>
          </a:p>
          <a:p>
            <a:pPr>
              <a:spcAft>
                <a:spcPts val="300"/>
              </a:spcAft>
              <a:defRPr sz="1400">
                <a:solidFill>
                  <a:srgbClr val="282832"/>
                </a:solidFill>
                <a:latin typeface="Calibri" panose="020F0502020204030204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282832"/>
                </a:solidFill>
                <a:latin typeface="Calibri" panose="020F0502020204030204"/>
              </a:defRPr>
            </a:pPr>
            <a:r>
              <a:t>No application route can modify or delete audit entries.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C72"/>
                </a:solidFill>
                <a:latin typeface="Calibri" panose="020F0502020204030204"/>
              </a:defRPr>
            </a:pPr>
            <a:r>
              <a:t>One-Click Rollback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32"/>
                </a:solidFill>
                <a:latin typeface="Calibri" panose="020F0502020204030204"/>
              </a:defRPr>
            </a:pPr>
            <a:r>
              <a:t>When a rule breaks the network:</a:t>
            </a:r>
          </a:p>
          <a:p>
            <a:pPr>
              <a:spcAft>
                <a:spcPts val="300"/>
              </a:spcAft>
              <a:defRPr sz="1300">
                <a:solidFill>
                  <a:srgbClr val="2A5298"/>
                </a:solidFill>
                <a:latin typeface="Calibri" panose="020F0502020204030204"/>
              </a:defRPr>
            </a:pPr>
            <a:r>
              <a:t>• Admin clicks 'Rollback'</a:t>
            </a:r>
          </a:p>
          <a:p>
            <a:pPr>
              <a:spcAft>
                <a:spcPts val="300"/>
              </a:spcAft>
              <a:defRPr sz="1300">
                <a:solidFill>
                  <a:srgbClr val="2A5298"/>
                </a:solidFill>
                <a:latin typeface="Calibri" panose="020F0502020204030204"/>
              </a:defRPr>
            </a:pPr>
            <a:r>
              <a:t>• System generates the inverse command (replaces -A with -D)</a:t>
            </a:r>
          </a:p>
          <a:p>
            <a:pPr>
              <a:spcAft>
                <a:spcPts val="300"/>
              </a:spcAft>
              <a:defRPr sz="1300">
                <a:solidFill>
                  <a:srgbClr val="2A5298"/>
                </a:solidFill>
                <a:latin typeface="Calibri" panose="020F0502020204030204"/>
              </a:defRPr>
            </a:pPr>
            <a:r>
              <a:t>• Rollback action is itself logged in the audit trail</a:t>
            </a:r>
          </a:p>
          <a:p>
            <a:pPr>
              <a:spcAft>
                <a:spcPts val="300"/>
              </a:spcAft>
              <a:defRPr sz="1300">
                <a:solidFill>
                  <a:srgbClr val="2A5298"/>
                </a:solidFill>
                <a:latin typeface="Calibri" panose="020F0502020204030204"/>
              </a:defRPr>
            </a:pPr>
            <a:r>
              <a:t>• Mean Time To Recovery (MTTR) is reduced from hours to seconds</a:t>
            </a:r>
          </a:p>
        </p:txBody>
      </p:sp>
      <p:pic>
        <p:nvPicPr>
          <p:cNvPr id="11" name="Picture 10" descr="07_audit_tr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5669280" cy="36445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3977639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E"/>
                </a:solidFill>
                <a:latin typeface="Calibri" panose="020F0502020204030204"/>
              </a:defRPr>
            </a:pPr>
            <a:r>
              <a:t>Figure 5a: Security timeline with all logged actions</a:t>
            </a:r>
          </a:p>
        </p:txBody>
      </p:sp>
      <p:pic>
        <p:nvPicPr>
          <p:cNvPr id="13" name="Picture 12" descr="10_ro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297680"/>
            <a:ext cx="5669280" cy="36445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5040" y="5989320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E"/>
                </a:solidFill>
                <a:latin typeface="Calibri" panose="020F0502020204030204"/>
              </a:defRPr>
            </a:pPr>
            <a:r>
              <a:t>Figure 5b: Rollback showing the reverse iptables command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CY376 | Blue Team | Network Security, Auditing and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Recommendations for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8E6"/>
                </a:solidFill>
                <a:latin typeface="Calibri" panose="020F0502020204030204"/>
              </a:defRPr>
            </a:pPr>
            <a:r>
              <a:t>From prototype to enterprise-ready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5298"/>
                </a:solidFill>
                <a:latin typeface="Calibri" panose="020F0502020204030204"/>
              </a:defRPr>
            </a:pPr>
            <a:r>
              <a:t>🔌 Live Firewall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32"/>
                </a:solidFill>
                <a:latin typeface="Calibri" panose="020F0502020204030204"/>
              </a:defRPr>
            </a:pPr>
            <a:r>
              <a:t>Connect via SSH (Paramiko) or vendor APIs to push commands to real 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059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5298"/>
                </a:solidFill>
                <a:latin typeface="Calibri" panose="020F0502020204030204"/>
              </a:defRPr>
            </a:pPr>
            <a:r>
              <a:t>🗄️ Database Upgrade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066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32"/>
                </a:solidFill>
                <a:latin typeface="Calibri" panose="020F0502020204030204"/>
              </a:defRPr>
            </a:pPr>
            <a:r>
              <a:t>Migrate from SQLite to PostgreSQL for concurrency, backups, and replication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63824"/>
            <a:ext cx="1472565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5298"/>
                </a:solidFill>
                <a:latin typeface="Calibri" panose="020F0502020204030204"/>
              </a:defRPr>
            </a:pPr>
            <a:r>
              <a:t>📧 </a:t>
            </a:r>
            <a:r>
              <a:rPr lang="en-US"/>
              <a:t> </a:t>
            </a:r>
            <a:r>
              <a:t>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198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32"/>
                </a:solidFill>
                <a:latin typeface="Calibri" panose="020F0502020204030204"/>
              </a:defRPr>
            </a:pPr>
            <a:r>
              <a:t>Add email and Slack alerts when requests enter the approval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77056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5298"/>
                </a:solidFill>
                <a:latin typeface="Calibri" panose="020F0502020204030204"/>
              </a:defRPr>
            </a:pPr>
            <a:r>
              <a:t>⚔️ Conflict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330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32"/>
                </a:solidFill>
                <a:latin typeface="Calibri" panose="020F0502020204030204"/>
              </a:defRPr>
            </a:pPr>
            <a:r>
              <a:t>Warn if new rules overlap with, contradict, or duplicate existing 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3736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5298"/>
                </a:solidFill>
                <a:latin typeface="Calibri" panose="020F0502020204030204"/>
              </a:defRPr>
            </a:pPr>
            <a:r>
              <a:t>⏰ Rule Expiration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93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32"/>
                </a:solidFill>
                <a:latin typeface="Calibri" panose="020F0502020204030204"/>
              </a:defRPr>
            </a:pPr>
            <a:r>
              <a:t>Auto-expire rules after 30 days unless recertified — reduces rule sprawl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50592"/>
            <a:ext cx="1866265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5298"/>
                </a:solidFill>
                <a:latin typeface="Calibri" panose="020F0502020204030204"/>
              </a:defRPr>
            </a:pPr>
            <a:r>
              <a:t>🔐 </a:t>
            </a:r>
            <a:r>
              <a:rPr lang="en-US"/>
              <a:t> </a:t>
            </a:r>
            <a:r>
              <a:t>Multi-Factor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066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32"/>
                </a:solidFill>
                <a:latin typeface="Calibri" panose="020F0502020204030204"/>
              </a:defRPr>
            </a:pPr>
            <a:r>
              <a:t>Require TOTP for all accounts, mandatory for Admin and Security Officer roles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163824"/>
            <a:ext cx="1764030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5298"/>
                </a:solidFill>
                <a:latin typeface="Calibri" panose="020F0502020204030204"/>
              </a:defRPr>
            </a:pPr>
            <a:r>
              <a:t>🐳 </a:t>
            </a:r>
            <a:r>
              <a:rPr lang="en-US"/>
              <a:t> </a:t>
            </a:r>
            <a:r>
              <a:t>Containerization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4198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32"/>
                </a:solidFill>
                <a:latin typeface="Calibri" panose="020F0502020204030204"/>
              </a:defRPr>
            </a:pPr>
            <a:r>
              <a:t>Deploy with Docker and orchestrate with Kubernetes for high 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877056"/>
            <a:ext cx="1776730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5298"/>
                </a:solidFill>
                <a:latin typeface="Calibri" panose="020F0502020204030204"/>
              </a:defRPr>
            </a:pPr>
            <a:r>
              <a:t>📊 </a:t>
            </a:r>
            <a:r>
              <a:rPr lang="en-US"/>
              <a:t> </a:t>
            </a:r>
            <a:r>
              <a:t>SIEM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1330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32"/>
                </a:solidFill>
                <a:latin typeface="Calibri" panose="020F0502020204030204"/>
              </a:defRPr>
            </a:pPr>
            <a:r>
              <a:t>Feed audit logs into Splunk or ELK for centralized security monitoring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577840"/>
            <a:ext cx="11247120" cy="640080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3C72"/>
                </a:solidFill>
                <a:latin typeface="Calibri" panose="020F0502020204030204"/>
              </a:defRPr>
            </a:pPr>
            <a:r>
              <a:t>💡 The architecture is firewall-agnostic. Replacing the command generation module enables support for Cisco ASA, Palo Alto PAN-OS, AWS Security Groups, or Azure NSGs without changing the core workflow.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CY376 | Blue Team | Network Security, Auditing and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828800"/>
            <a:ext cx="4572000" cy="4572000"/>
          </a:xfrm>
          <a:prstGeom prst="ellipse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3400" b="1">
                <a:solidFill>
                  <a:srgbClr val="FFFFFF"/>
                </a:solidFill>
                <a:latin typeface="Calibri" panose="020F0502020204030204"/>
              </a:defRPr>
            </a:pPr>
            <a:r>
              <a:t>Effective firewall change management does not require</a:t>
            </a:r>
            <a:br/>
            <a:r>
              <a:t>$30,000+ enterprise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8D2E6"/>
                </a:solidFill>
                <a:latin typeface="Calibri" panose="020F0502020204030204"/>
              </a:defRPr>
            </a:pPr>
            <a:r>
              <a:t>✓  Risk-based approval ensures dangerous changes get the scrutiny they deserve</a:t>
            </a:r>
          </a:p>
          <a:p>
            <a:pPr>
              <a:spcAft>
                <a:spcPts val="600"/>
              </a:spcAft>
              <a:defRPr sz="1700">
                <a:solidFill>
                  <a:srgbClr val="C8D2E6"/>
                </a:solidFill>
                <a:latin typeface="Calibri" panose="020F0502020204030204"/>
              </a:defRPr>
            </a:pPr>
            <a:r>
              <a:t>✓  The Four-Eyes Principle prevents a single compromised account from opening backdoors</a:t>
            </a:r>
          </a:p>
          <a:p>
            <a:pPr>
              <a:spcAft>
                <a:spcPts val="600"/>
              </a:spcAft>
              <a:defRPr sz="1700">
                <a:solidFill>
                  <a:srgbClr val="C8D2E6"/>
                </a:solidFill>
                <a:latin typeface="Calibri" panose="020F0502020204030204"/>
              </a:defRPr>
            </a:pPr>
            <a:r>
              <a:t>✓  An immutable audit trail satisfies ISO 27001, PCI-DSS, and NIST requirements</a:t>
            </a:r>
          </a:p>
          <a:p>
            <a:pPr>
              <a:spcAft>
                <a:spcPts val="600"/>
              </a:spcAft>
              <a:defRPr sz="1700">
                <a:solidFill>
                  <a:srgbClr val="C8D2E6"/>
                </a:solidFill>
                <a:latin typeface="Calibri" panose="020F0502020204030204"/>
              </a:defRPr>
            </a:pPr>
            <a:r>
              <a:t>✓  One-click rollback reduces recovery time from hours to seconds</a:t>
            </a:r>
          </a:p>
          <a:p>
            <a:pPr>
              <a:spcAft>
                <a:spcPts val="600"/>
              </a:spcAft>
              <a:defRPr sz="1700">
                <a:solidFill>
                  <a:srgbClr val="C8D2E6"/>
                </a:solidFill>
                <a:latin typeface="Calibri" panose="020F0502020204030204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C8D2E6"/>
                </a:solidFill>
                <a:latin typeface="Calibri" panose="020F0502020204030204"/>
              </a:defRPr>
            </a:pPr>
            <a:r>
              <a:t>Built with Python, Flask, and SQLite. Ready to extend. Ready to deploy.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64592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 panose="020F0502020204030204"/>
              </a:defRPr>
            </a:pPr>
            <a:r>
              <a:t>Thank you.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CY376 | Blue Team | Network Security, Auditing and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ED2"/>
                </a:solidFill>
                <a:latin typeface="Calibri" panose="020F0502020204030204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7397</Words>
  <Application>WPS Presentation</Application>
  <PresentationFormat>On-screen Show (4:3)</PresentationFormat>
  <Paragraphs>300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Muhammed</cp:lastModifiedBy>
  <cp:revision>3</cp:revision>
  <dcterms:created xsi:type="dcterms:W3CDTF">2013-01-27T09:14:00Z</dcterms:created>
  <dcterms:modified xsi:type="dcterms:W3CDTF">2026-08-12T12:07:01Z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8ECDF309FACC44508C9ACF4D022FB841_12</vt:lpwstr>
  </property>
  <property fmtid="{D5CDD505-2E9C-101B-9397-08002B2CF9AE}" pid="3" name="KSOProductBuildVer">
    <vt:lpwstr>2057-12.2.0.23206</vt:lpwstr>
  </property>
</Properties>
</file>